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0" r:id="rId10"/>
    <p:sldId id="27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1367" y="2141875"/>
            <a:ext cx="3660631" cy="47161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1590" y="6186340"/>
            <a:ext cx="1222507" cy="46662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515475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5750" y="2103653"/>
            <a:ext cx="6231255" cy="217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5750" y="1410106"/>
            <a:ext cx="11076380" cy="2181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018F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ject 4"/>
          <p:cNvPicPr/>
          <p:nvPr/>
        </p:nvPicPr>
        <p:blipFill rotWithShape="1">
          <a:blip r:embed="rId2" cstate="print"/>
          <a:srcRect t="13856" r="-1" b="20895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" y="1676400"/>
            <a:ext cx="4773213" cy="153987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marL="335280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sz="4300" b="1" spc="-170" dirty="0">
                <a:solidFill>
                  <a:schemeClr val="tx1"/>
                </a:solidFill>
                <a:ea typeface="+mn-ea"/>
              </a:rPr>
              <a:t>SEUNOME</a:t>
            </a:r>
            <a:r>
              <a:rPr lang="en-US" sz="4300" b="1" spc="-170" dirty="0">
                <a:ea typeface="+mn-ea"/>
              </a:rPr>
              <a:t> Mail Zimbra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1243024"/>
            <a:ext cx="10219055" cy="5615305"/>
            <a:chOff x="0" y="1243024"/>
            <a:chExt cx="10219055" cy="5615305"/>
          </a:xfrm>
        </p:grpSpPr>
        <p:sp>
          <p:nvSpPr>
            <p:cNvPr id="7" name="object 7"/>
            <p:cNvSpPr/>
            <p:nvPr/>
          </p:nvSpPr>
          <p:spPr>
            <a:xfrm>
              <a:off x="587375" y="6419652"/>
              <a:ext cx="9631680" cy="0"/>
            </a:xfrm>
            <a:custGeom>
              <a:avLst/>
              <a:gdLst/>
              <a:ahLst/>
              <a:cxnLst/>
              <a:rect l="l" t="t" r="r" b="b"/>
              <a:pathLst>
                <a:path w="9631680">
                  <a:moveTo>
                    <a:pt x="0" y="0"/>
                  </a:moveTo>
                  <a:lnTo>
                    <a:pt x="9631281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43024"/>
              <a:ext cx="5372100" cy="561497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97475" marR="5080">
              <a:lnSpc>
                <a:spcPct val="100000"/>
              </a:lnSpc>
              <a:spcBef>
                <a:spcPts val="100"/>
              </a:spcBef>
            </a:pPr>
            <a:r>
              <a:rPr sz="4300" b="1" spc="-170" dirty="0">
                <a:latin typeface="Verdana"/>
                <a:cs typeface="Verdana"/>
              </a:rPr>
              <a:t>Mais</a:t>
            </a:r>
            <a:r>
              <a:rPr sz="4300" b="1" spc="-535" dirty="0">
                <a:latin typeface="Verdana"/>
                <a:cs typeface="Verdana"/>
              </a:rPr>
              <a:t> </a:t>
            </a:r>
            <a:r>
              <a:rPr sz="4300" b="1" spc="-125" dirty="0">
                <a:latin typeface="Verdana"/>
                <a:cs typeface="Verdana"/>
              </a:rPr>
              <a:t>de</a:t>
            </a:r>
            <a:r>
              <a:rPr sz="4300" b="1" spc="-530" dirty="0">
                <a:latin typeface="Verdana"/>
                <a:cs typeface="Verdana"/>
              </a:rPr>
              <a:t> </a:t>
            </a:r>
            <a:r>
              <a:rPr sz="4300" b="1" spc="60" dirty="0">
                <a:latin typeface="Verdana"/>
                <a:cs typeface="Verdana"/>
              </a:rPr>
              <a:t>500</a:t>
            </a:r>
            <a:r>
              <a:rPr sz="4300" b="1" spc="-580" dirty="0">
                <a:latin typeface="Verdana"/>
                <a:cs typeface="Verdana"/>
              </a:rPr>
              <a:t> </a:t>
            </a:r>
            <a:r>
              <a:rPr sz="4300" b="1" spc="-125" dirty="0">
                <a:latin typeface="Verdana"/>
                <a:cs typeface="Verdana"/>
              </a:rPr>
              <a:t>milhões de</a:t>
            </a:r>
            <a:r>
              <a:rPr sz="4300" b="1" spc="-505" dirty="0">
                <a:latin typeface="Verdana"/>
                <a:cs typeface="Verdana"/>
              </a:rPr>
              <a:t> </a:t>
            </a:r>
            <a:r>
              <a:rPr sz="4300" b="1" spc="-175" dirty="0">
                <a:latin typeface="Verdana"/>
                <a:cs typeface="Verdana"/>
              </a:rPr>
              <a:t>pessoas</a:t>
            </a:r>
            <a:r>
              <a:rPr sz="4300" b="1" spc="-505" dirty="0">
                <a:latin typeface="Verdana"/>
                <a:cs typeface="Verdana"/>
              </a:rPr>
              <a:t> </a:t>
            </a:r>
            <a:r>
              <a:rPr sz="4300" b="1" spc="-20" dirty="0">
                <a:latin typeface="Verdana"/>
                <a:cs typeface="Verdana"/>
              </a:rPr>
              <a:t>conﬁam </a:t>
            </a:r>
            <a:r>
              <a:rPr sz="4300" b="1" spc="-330" dirty="0">
                <a:latin typeface="Verdana"/>
                <a:cs typeface="Verdana"/>
              </a:rPr>
              <a:t>na</a:t>
            </a:r>
            <a:r>
              <a:rPr sz="4300" b="1" spc="-540" dirty="0">
                <a:latin typeface="Verdana"/>
                <a:cs typeface="Verdana"/>
              </a:rPr>
              <a:t> </a:t>
            </a:r>
            <a:r>
              <a:rPr sz="4300" b="1" spc="-65" dirty="0">
                <a:latin typeface="Verdana"/>
                <a:cs typeface="Verdana"/>
              </a:rPr>
              <a:t>Zimbra</a:t>
            </a:r>
            <a:endParaRPr sz="43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0602" y="3930389"/>
            <a:ext cx="546671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Verdana"/>
                <a:cs typeface="Verdana"/>
              </a:rPr>
              <a:t>Zimbra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uma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plataforma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70" dirty="0">
                <a:latin typeface="Verdana"/>
                <a:cs typeface="Verdana"/>
              </a:rPr>
              <a:t>de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e-mail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e </a:t>
            </a:r>
            <a:r>
              <a:rPr sz="2000" dirty="0">
                <a:latin typeface="Verdana"/>
                <a:cs typeface="Verdana"/>
              </a:rPr>
              <a:t>colaboração,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b="1" spc="-70" dirty="0">
                <a:latin typeface="Verdana"/>
                <a:cs typeface="Verdana"/>
              </a:rPr>
              <a:t>reconhecida</a:t>
            </a:r>
            <a:r>
              <a:rPr sz="2000" b="1" spc="-95" dirty="0">
                <a:latin typeface="Verdana"/>
                <a:cs typeface="Verdana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globalmente </a:t>
            </a:r>
            <a:r>
              <a:rPr sz="2000" b="1" spc="-55" dirty="0">
                <a:latin typeface="Verdana"/>
                <a:cs typeface="Verdana"/>
              </a:rPr>
              <a:t>como</a:t>
            </a:r>
            <a:r>
              <a:rPr sz="2000" b="1" spc="-240" dirty="0">
                <a:latin typeface="Verdana"/>
                <a:cs typeface="Verdana"/>
              </a:rPr>
              <a:t> </a:t>
            </a:r>
            <a:r>
              <a:rPr sz="2000" b="1" spc="-110" dirty="0">
                <a:latin typeface="Verdana"/>
                <a:cs typeface="Verdana"/>
              </a:rPr>
              <a:t>TOP</a:t>
            </a:r>
            <a:r>
              <a:rPr sz="2000" b="1" spc="-235" dirty="0">
                <a:latin typeface="Verdana"/>
                <a:cs typeface="Verdana"/>
              </a:rPr>
              <a:t> </a:t>
            </a:r>
            <a:r>
              <a:rPr sz="2000" b="1" spc="-145" dirty="0">
                <a:latin typeface="Verdana"/>
                <a:cs typeface="Verdana"/>
              </a:rPr>
              <a:t>Player</a:t>
            </a:r>
            <a:r>
              <a:rPr sz="2000" b="1" spc="-200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no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quadrante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70" dirty="0">
                <a:latin typeface="Verdana"/>
                <a:cs typeface="Verdana"/>
              </a:rPr>
              <a:t>de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E-</a:t>
            </a:r>
            <a:r>
              <a:rPr sz="2000" dirty="0">
                <a:latin typeface="Verdana"/>
                <a:cs typeface="Verdana"/>
              </a:rPr>
              <a:t>mail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e </a:t>
            </a:r>
            <a:r>
              <a:rPr sz="2000" spc="10" dirty="0">
                <a:latin typeface="Verdana"/>
                <a:cs typeface="Verdana"/>
              </a:rPr>
              <a:t>Colaboração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110" dirty="0">
                <a:latin typeface="Verdana"/>
                <a:cs typeface="Verdana"/>
              </a:rPr>
              <a:t>do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grupo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Radicati.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1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68500" y="0"/>
            <a:ext cx="10024110" cy="6858000"/>
            <a:chOff x="2168500" y="0"/>
            <a:chExt cx="1002411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4200" y="0"/>
              <a:ext cx="6527799" cy="6857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8500" y="487050"/>
              <a:ext cx="7855000" cy="58838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029588" y="2200275"/>
            <a:ext cx="9575165" cy="4219378"/>
            <a:chOff x="2029588" y="2200275"/>
            <a:chExt cx="9575165" cy="4219378"/>
          </a:xfrm>
        </p:grpSpPr>
        <p:sp>
          <p:nvSpPr>
            <p:cNvPr id="9" name="object 9"/>
            <p:cNvSpPr/>
            <p:nvPr/>
          </p:nvSpPr>
          <p:spPr>
            <a:xfrm>
              <a:off x="2029588" y="6419653"/>
              <a:ext cx="9575165" cy="0"/>
            </a:xfrm>
            <a:custGeom>
              <a:avLst/>
              <a:gdLst/>
              <a:ahLst/>
              <a:cxnLst/>
              <a:rect l="l" t="t" r="r" b="b"/>
              <a:pathLst>
                <a:path w="9575165">
                  <a:moveTo>
                    <a:pt x="0" y="0"/>
                  </a:moveTo>
                  <a:lnTo>
                    <a:pt x="9575099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72374" y="2200275"/>
              <a:ext cx="972185" cy="466725"/>
            </a:xfrm>
            <a:custGeom>
              <a:avLst/>
              <a:gdLst/>
              <a:ahLst/>
              <a:cxnLst/>
              <a:rect l="l" t="t" r="r" b="b"/>
              <a:pathLst>
                <a:path w="972184" h="466725">
                  <a:moveTo>
                    <a:pt x="0" y="233249"/>
                  </a:moveTo>
                  <a:lnTo>
                    <a:pt x="3785" y="203991"/>
                  </a:lnTo>
                  <a:lnTo>
                    <a:pt x="14838" y="175817"/>
                  </a:lnTo>
                  <a:lnTo>
                    <a:pt x="56924" y="123597"/>
                  </a:lnTo>
                  <a:lnTo>
                    <a:pt x="87048" y="99989"/>
                  </a:lnTo>
                  <a:lnTo>
                    <a:pt x="122617" y="78339"/>
                  </a:lnTo>
                  <a:lnTo>
                    <a:pt x="163177" y="58866"/>
                  </a:lnTo>
                  <a:lnTo>
                    <a:pt x="208273" y="41790"/>
                  </a:lnTo>
                  <a:lnTo>
                    <a:pt x="257449" y="27328"/>
                  </a:lnTo>
                  <a:lnTo>
                    <a:pt x="310250" y="15700"/>
                  </a:lnTo>
                  <a:lnTo>
                    <a:pt x="366221" y="7123"/>
                  </a:lnTo>
                  <a:lnTo>
                    <a:pt x="424906" y="1817"/>
                  </a:lnTo>
                  <a:lnTo>
                    <a:pt x="485849" y="0"/>
                  </a:lnTo>
                  <a:lnTo>
                    <a:pt x="546793" y="1817"/>
                  </a:lnTo>
                  <a:lnTo>
                    <a:pt x="605478" y="7123"/>
                  </a:lnTo>
                  <a:lnTo>
                    <a:pt x="661449" y="15700"/>
                  </a:lnTo>
                  <a:lnTo>
                    <a:pt x="714250" y="27328"/>
                  </a:lnTo>
                  <a:lnTo>
                    <a:pt x="763426" y="41790"/>
                  </a:lnTo>
                  <a:lnTo>
                    <a:pt x="808522" y="58866"/>
                  </a:lnTo>
                  <a:lnTo>
                    <a:pt x="849082" y="78339"/>
                  </a:lnTo>
                  <a:lnTo>
                    <a:pt x="884651" y="99989"/>
                  </a:lnTo>
                  <a:lnTo>
                    <a:pt x="914775" y="123597"/>
                  </a:lnTo>
                  <a:lnTo>
                    <a:pt x="956861" y="175817"/>
                  </a:lnTo>
                  <a:lnTo>
                    <a:pt x="971699" y="233249"/>
                  </a:lnTo>
                  <a:lnTo>
                    <a:pt x="956861" y="290682"/>
                  </a:lnTo>
                  <a:lnTo>
                    <a:pt x="914775" y="342902"/>
                  </a:lnTo>
                  <a:lnTo>
                    <a:pt x="884651" y="366510"/>
                  </a:lnTo>
                  <a:lnTo>
                    <a:pt x="849082" y="388160"/>
                  </a:lnTo>
                  <a:lnTo>
                    <a:pt x="808522" y="407633"/>
                  </a:lnTo>
                  <a:lnTo>
                    <a:pt x="763426" y="424709"/>
                  </a:lnTo>
                  <a:lnTo>
                    <a:pt x="714250" y="439171"/>
                  </a:lnTo>
                  <a:lnTo>
                    <a:pt x="661449" y="450799"/>
                  </a:lnTo>
                  <a:lnTo>
                    <a:pt x="605478" y="459376"/>
                  </a:lnTo>
                  <a:lnTo>
                    <a:pt x="546793" y="464682"/>
                  </a:lnTo>
                  <a:lnTo>
                    <a:pt x="485849" y="466499"/>
                  </a:lnTo>
                  <a:lnTo>
                    <a:pt x="424906" y="464682"/>
                  </a:lnTo>
                  <a:lnTo>
                    <a:pt x="366221" y="459376"/>
                  </a:lnTo>
                  <a:lnTo>
                    <a:pt x="310250" y="450799"/>
                  </a:lnTo>
                  <a:lnTo>
                    <a:pt x="257449" y="439171"/>
                  </a:lnTo>
                  <a:lnTo>
                    <a:pt x="208273" y="424709"/>
                  </a:lnTo>
                  <a:lnTo>
                    <a:pt x="163177" y="407633"/>
                  </a:lnTo>
                  <a:lnTo>
                    <a:pt x="122617" y="388160"/>
                  </a:lnTo>
                  <a:lnTo>
                    <a:pt x="87048" y="366510"/>
                  </a:lnTo>
                  <a:lnTo>
                    <a:pt x="56924" y="342902"/>
                  </a:lnTo>
                  <a:lnTo>
                    <a:pt x="14838" y="290682"/>
                  </a:lnTo>
                  <a:lnTo>
                    <a:pt x="3785" y="262508"/>
                  </a:lnTo>
                  <a:lnTo>
                    <a:pt x="0" y="233249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973344" y="1051417"/>
            <a:ext cx="10218654" cy="5806582"/>
            <a:chOff x="1973344" y="1051417"/>
            <a:chExt cx="10218654" cy="5806582"/>
          </a:xfrm>
        </p:grpSpPr>
        <p:sp>
          <p:nvSpPr>
            <p:cNvPr id="5" name="object 5"/>
            <p:cNvSpPr/>
            <p:nvPr/>
          </p:nvSpPr>
          <p:spPr>
            <a:xfrm>
              <a:off x="1973344" y="6419653"/>
              <a:ext cx="9631680" cy="0"/>
            </a:xfrm>
            <a:custGeom>
              <a:avLst/>
              <a:gdLst/>
              <a:ahLst/>
              <a:cxnLst/>
              <a:rect l="l" t="t" r="r" b="b"/>
              <a:pathLst>
                <a:path w="9631680">
                  <a:moveTo>
                    <a:pt x="0" y="0"/>
                  </a:moveTo>
                  <a:lnTo>
                    <a:pt x="963128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625" y="1051417"/>
              <a:ext cx="4948373" cy="580658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65750" y="1600200"/>
            <a:ext cx="6231255" cy="2796783"/>
          </a:xfrm>
          <a:prstGeom prst="rect">
            <a:avLst/>
          </a:prstGeom>
        </p:spPr>
        <p:txBody>
          <a:bodyPr vert="horz" wrap="square" lIns="0" tIns="575175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100"/>
              </a:spcBef>
            </a:pPr>
            <a:r>
              <a:rPr lang="pt-BR" spc="90" dirty="0"/>
              <a:t>Planos</a:t>
            </a:r>
          </a:p>
          <a:p>
            <a:pPr marL="414655">
              <a:lnSpc>
                <a:spcPct val="100000"/>
              </a:lnSpc>
            </a:pPr>
            <a:r>
              <a:rPr lang="pt-BR" b="1" spc="-150" dirty="0">
                <a:solidFill>
                  <a:schemeClr val="tx1"/>
                </a:solidFill>
                <a:latin typeface="Verdana"/>
                <a:cs typeface="Verdana"/>
              </a:rPr>
              <a:t>SEUNOME </a:t>
            </a:r>
            <a:r>
              <a:rPr lang="pt-BR" b="1" spc="-150" dirty="0">
                <a:latin typeface="Verdana"/>
                <a:cs typeface="Verdana"/>
              </a:rPr>
              <a:t>Mail</a:t>
            </a:r>
            <a:r>
              <a:rPr lang="pt-BR" b="1" spc="-580" dirty="0">
                <a:latin typeface="Verdana"/>
                <a:cs typeface="Verdana"/>
              </a:rPr>
              <a:t> </a:t>
            </a:r>
            <a:r>
              <a:rPr lang="pt-BR" b="1" spc="-185" dirty="0">
                <a:latin typeface="Verdana"/>
                <a:cs typeface="Verdana"/>
              </a:rPr>
              <a:t>Zimbra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1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7940F93-1428-9C54-5B1E-8BF0D4D1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0" cy="6248399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27CD6E24-CBF7-A9F9-8A2C-800B3A0F1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"/>
            <a:ext cx="1195387" cy="119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AFBF56C4-A573-F091-DF26-2DD0BAEEB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81000"/>
            <a:ext cx="1195387" cy="119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6A37E76-221E-A0F6-C287-3625FEA04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3" y="381000"/>
            <a:ext cx="1195387" cy="119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O que é a LGPD – LGPD">
            <a:extLst>
              <a:ext uri="{FF2B5EF4-FFF2-40B4-BE49-F238E27FC236}">
                <a16:creationId xmlns:a16="http://schemas.microsoft.com/office/drawing/2014/main" id="{14497489-560D-318C-FB06-710DB15A0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" t="14116" r="6457" b="11567"/>
          <a:stretch/>
        </p:blipFill>
        <p:spPr bwMode="auto">
          <a:xfrm>
            <a:off x="1569427" y="5943600"/>
            <a:ext cx="147857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O que é a LGPD – LGPD">
            <a:extLst>
              <a:ext uri="{FF2B5EF4-FFF2-40B4-BE49-F238E27FC236}">
                <a16:creationId xmlns:a16="http://schemas.microsoft.com/office/drawing/2014/main" id="{8EC1E774-B080-30F2-ED1C-877A9DE1A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" t="14116" r="6457" b="11567"/>
          <a:stretch/>
        </p:blipFill>
        <p:spPr bwMode="auto">
          <a:xfrm>
            <a:off x="5379427" y="5943600"/>
            <a:ext cx="147857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2" descr="O que é a LGPD – LGPD">
            <a:extLst>
              <a:ext uri="{FF2B5EF4-FFF2-40B4-BE49-F238E27FC236}">
                <a16:creationId xmlns:a16="http://schemas.microsoft.com/office/drawing/2014/main" id="{E0A268A9-B478-34A5-DA79-9FA550E16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6" t="14116" r="6457" b="11567"/>
          <a:stretch/>
        </p:blipFill>
        <p:spPr bwMode="auto">
          <a:xfrm>
            <a:off x="9144000" y="5943600"/>
            <a:ext cx="1478573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973344" y="975380"/>
            <a:ext cx="10218654" cy="5882618"/>
            <a:chOff x="1973344" y="975380"/>
            <a:chExt cx="10218654" cy="5882618"/>
          </a:xfrm>
        </p:grpSpPr>
        <p:sp>
          <p:nvSpPr>
            <p:cNvPr id="5" name="object 5"/>
            <p:cNvSpPr/>
            <p:nvPr/>
          </p:nvSpPr>
          <p:spPr>
            <a:xfrm>
              <a:off x="1973344" y="6419652"/>
              <a:ext cx="9631680" cy="0"/>
            </a:xfrm>
            <a:custGeom>
              <a:avLst/>
              <a:gdLst/>
              <a:ahLst/>
              <a:cxnLst/>
              <a:rect l="l" t="t" r="r" b="b"/>
              <a:pathLst>
                <a:path w="9631680">
                  <a:moveTo>
                    <a:pt x="0" y="0"/>
                  </a:moveTo>
                  <a:lnTo>
                    <a:pt x="96311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625" y="975380"/>
              <a:ext cx="4948373" cy="58826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0208" y="1828800"/>
            <a:ext cx="6231255" cy="2796783"/>
          </a:xfrm>
          <a:prstGeom prst="rect">
            <a:avLst/>
          </a:prstGeom>
        </p:spPr>
        <p:txBody>
          <a:bodyPr vert="horz" wrap="square" lIns="0" tIns="575175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100"/>
              </a:spcBef>
            </a:pPr>
            <a:r>
              <a:rPr lang="pt-BR" spc="-10" dirty="0"/>
              <a:t>Vantagens</a:t>
            </a:r>
          </a:p>
          <a:p>
            <a:pPr marL="414655">
              <a:lnSpc>
                <a:spcPct val="100000"/>
              </a:lnSpc>
            </a:pPr>
            <a:r>
              <a:rPr lang="pt-BR" b="1" spc="-150" dirty="0">
                <a:solidFill>
                  <a:schemeClr val="tx1"/>
                </a:solidFill>
                <a:latin typeface="Verdana"/>
                <a:cs typeface="Verdana"/>
              </a:rPr>
              <a:t>SEUNOME </a:t>
            </a:r>
            <a:r>
              <a:rPr lang="pt-BR" b="1" spc="-150" dirty="0">
                <a:latin typeface="Verdana"/>
                <a:cs typeface="Verdana"/>
              </a:rPr>
              <a:t>Mail</a:t>
            </a:r>
            <a:r>
              <a:rPr lang="pt-BR" b="1" spc="-580" dirty="0">
                <a:latin typeface="Verdana"/>
                <a:cs typeface="Verdana"/>
              </a:rPr>
              <a:t> </a:t>
            </a:r>
            <a:r>
              <a:rPr lang="pt-BR" b="1" spc="-185" dirty="0">
                <a:latin typeface="Verdana"/>
                <a:cs typeface="Verdana"/>
              </a:rPr>
              <a:t>Zimbra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249199" y="1031313"/>
            <a:ext cx="24831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spc="-20" dirty="0">
                <a:latin typeface="Verdana"/>
                <a:cs typeface="Verdana"/>
              </a:rPr>
              <a:t>Estrutura 100% brasileira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8701" y="2377488"/>
            <a:ext cx="23406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latin typeface="Verdana"/>
                <a:cs typeface="Verdana"/>
              </a:rPr>
              <a:t>Habilitação de 2FA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0693" y="1031321"/>
            <a:ext cx="27120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latin typeface="Verdana"/>
                <a:cs typeface="Verdana"/>
              </a:rPr>
              <a:t>99,9% de disponibilidade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0699" y="2355963"/>
            <a:ext cx="31692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A</a:t>
            </a:r>
            <a:r>
              <a:rPr lang="pt-BR" sz="1400" dirty="0" err="1">
                <a:latin typeface="Verdana"/>
                <a:cs typeface="Verdana"/>
              </a:rPr>
              <a:t>ntispam</a:t>
            </a:r>
            <a:r>
              <a:rPr lang="pt-BR" sz="1400" dirty="0">
                <a:latin typeface="Verdana"/>
                <a:cs typeface="Verdana"/>
              </a:rPr>
              <a:t> de borda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69199" y="898399"/>
            <a:ext cx="1007110" cy="771525"/>
            <a:chOff x="1169199" y="898399"/>
            <a:chExt cx="1007110" cy="7715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199" y="898399"/>
              <a:ext cx="1006968" cy="7713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9625" y="1021012"/>
              <a:ext cx="526124" cy="5261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169199" y="2231949"/>
            <a:ext cx="5188585" cy="784225"/>
            <a:chOff x="1169199" y="2231949"/>
            <a:chExt cx="5188585" cy="7842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199" y="2231949"/>
              <a:ext cx="1006968" cy="77135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0714" y="2244695"/>
              <a:ext cx="1006967" cy="7713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9363" y="2384311"/>
              <a:ext cx="466647" cy="4666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156" y="2367314"/>
              <a:ext cx="526124" cy="52612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350714" y="898399"/>
            <a:ext cx="1007110" cy="771525"/>
            <a:chOff x="5350714" y="898399"/>
            <a:chExt cx="1007110" cy="77152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0714" y="898399"/>
              <a:ext cx="1006967" cy="7713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1150" y="1021025"/>
              <a:ext cx="526124" cy="5261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158700" y="3736538"/>
            <a:ext cx="218469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latin typeface="Verdana"/>
                <a:cs typeface="Verdana"/>
              </a:rPr>
              <a:t>Certificação ISO27001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30699" y="3715013"/>
            <a:ext cx="183451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latin typeface="Verdana"/>
                <a:cs typeface="Verdana"/>
              </a:rPr>
              <a:t>Compliance à LGPD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69199" y="3590999"/>
            <a:ext cx="5188585" cy="784225"/>
            <a:chOff x="1169199" y="3590999"/>
            <a:chExt cx="5188585" cy="78422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199" y="3590999"/>
              <a:ext cx="1006968" cy="77135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0714" y="3603746"/>
              <a:ext cx="1006967" cy="77135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158700" y="5108350"/>
            <a:ext cx="25736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Verdana"/>
                <a:cs typeface="Verdana"/>
              </a:rPr>
              <a:t>Controle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acesso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(horário)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30698" y="5086825"/>
            <a:ext cx="286570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400" dirty="0">
                <a:latin typeface="Verdana"/>
                <a:cs typeface="Verdana"/>
              </a:rPr>
              <a:t>Estrutura Licenciada Zimbra NE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69199" y="3720000"/>
            <a:ext cx="5188585" cy="2026920"/>
            <a:chOff x="1169199" y="3720000"/>
            <a:chExt cx="5188585" cy="20269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199" y="4962811"/>
              <a:ext cx="1006968" cy="77135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0714" y="4975558"/>
              <a:ext cx="1006967" cy="77135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09625" y="3720000"/>
              <a:ext cx="526124" cy="5261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1137" y="3732752"/>
              <a:ext cx="526124" cy="5261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06725" y="5099562"/>
              <a:ext cx="466625" cy="46662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0900" y="5105950"/>
              <a:ext cx="466625" cy="466625"/>
            </a:xfrm>
            <a:prstGeom prst="rect">
              <a:avLst/>
            </a:prstGeom>
          </p:spPr>
        </p:pic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1C99F44-0900-17E6-F5DA-8DEC8410627F}"/>
              </a:ext>
            </a:extLst>
          </p:cNvPr>
          <p:cNvSpPr/>
          <p:nvPr/>
        </p:nvSpPr>
        <p:spPr>
          <a:xfrm>
            <a:off x="1973344" y="6419652"/>
            <a:ext cx="9631680" cy="0"/>
          </a:xfrm>
          <a:custGeom>
            <a:avLst/>
            <a:gdLst/>
            <a:ahLst/>
            <a:cxnLst/>
            <a:rect l="l" t="t" r="r" b="b"/>
            <a:pathLst>
              <a:path w="9631680">
                <a:moveTo>
                  <a:pt x="0" y="0"/>
                </a:moveTo>
                <a:lnTo>
                  <a:pt x="963119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062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Mais</a:t>
            </a:r>
            <a:r>
              <a:rPr spc="-610" dirty="0"/>
              <a:t> </a:t>
            </a:r>
            <a:r>
              <a:rPr spc="95" dirty="0"/>
              <a:t>detalhes</a:t>
            </a:r>
            <a:r>
              <a:rPr spc="-610" dirty="0"/>
              <a:t> </a:t>
            </a:r>
            <a:r>
              <a:rPr spc="125" dirty="0"/>
              <a:t>sobre</a:t>
            </a:r>
          </a:p>
          <a:p>
            <a:pPr marL="12700">
              <a:lnSpc>
                <a:spcPct val="100000"/>
              </a:lnSpc>
            </a:pPr>
            <a:r>
              <a:rPr lang="pt-BR" b="1" spc="-150" dirty="0">
                <a:solidFill>
                  <a:schemeClr val="tx1"/>
                </a:solidFill>
                <a:latin typeface="Verdana"/>
                <a:cs typeface="Verdana"/>
              </a:rPr>
              <a:t>SEUNOME</a:t>
            </a:r>
            <a:r>
              <a:rPr lang="pt-BR" b="1" spc="-150" dirty="0">
                <a:latin typeface="Verdana"/>
                <a:cs typeface="Verdana"/>
              </a:rPr>
              <a:t> </a:t>
            </a:r>
            <a:r>
              <a:rPr b="1" spc="-150" dirty="0">
                <a:latin typeface="Verdana"/>
                <a:cs typeface="Verdana"/>
              </a:rPr>
              <a:t>Mail</a:t>
            </a:r>
            <a:r>
              <a:rPr b="1" spc="-580" dirty="0">
                <a:latin typeface="Verdana"/>
                <a:cs typeface="Verdana"/>
              </a:rPr>
              <a:t> </a:t>
            </a:r>
            <a:r>
              <a:rPr b="1" spc="-35" dirty="0">
                <a:latin typeface="Verdana"/>
                <a:cs typeface="Verdana"/>
              </a:rPr>
              <a:t>Zimbra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6CC108B-8C09-9390-15FE-4D5959773953}"/>
              </a:ext>
            </a:extLst>
          </p:cNvPr>
          <p:cNvSpPr/>
          <p:nvPr/>
        </p:nvSpPr>
        <p:spPr>
          <a:xfrm>
            <a:off x="1973344" y="6419652"/>
            <a:ext cx="9631680" cy="0"/>
          </a:xfrm>
          <a:custGeom>
            <a:avLst/>
            <a:gdLst/>
            <a:ahLst/>
            <a:cxnLst/>
            <a:rect l="l" t="t" r="r" b="b"/>
            <a:pathLst>
              <a:path w="9631680">
                <a:moveTo>
                  <a:pt x="0" y="0"/>
                </a:moveTo>
                <a:lnTo>
                  <a:pt x="963119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m 64">
            <a:extLst>
              <a:ext uri="{FF2B5EF4-FFF2-40B4-BE49-F238E27FC236}">
                <a16:creationId xmlns:a16="http://schemas.microsoft.com/office/drawing/2014/main" id="{E546603D-0005-0B51-C39E-A958610C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3" y="396999"/>
            <a:ext cx="10764387" cy="60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6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>
            <a:extLst>
              <a:ext uri="{FF2B5EF4-FFF2-40B4-BE49-F238E27FC236}">
                <a16:creationId xmlns:a16="http://schemas.microsoft.com/office/drawing/2014/main" id="{128DBDAF-2261-363F-BE70-65F8621EF481}"/>
              </a:ext>
            </a:extLst>
          </p:cNvPr>
          <p:cNvSpPr txBox="1"/>
          <p:nvPr/>
        </p:nvSpPr>
        <p:spPr>
          <a:xfrm>
            <a:off x="249842" y="2035440"/>
            <a:ext cx="11692316" cy="101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3"/>
              </a:lnSpc>
            </a:pPr>
            <a:r>
              <a:rPr lang="en-US" sz="4800" b="1" spc="-150" dirty="0">
                <a:solidFill>
                  <a:srgbClr val="0018FF"/>
                </a:solidFill>
                <a:latin typeface="Verdana"/>
                <a:ea typeface="+mn-ea"/>
              </a:rPr>
              <a:t>VAMOS CONOSCO?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DDE1BE3-1C36-8518-CB82-357499191548}"/>
              </a:ext>
            </a:extLst>
          </p:cNvPr>
          <p:cNvSpPr txBox="1"/>
          <p:nvPr/>
        </p:nvSpPr>
        <p:spPr>
          <a:xfrm>
            <a:off x="3505200" y="4738837"/>
            <a:ext cx="5362327" cy="54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8"/>
              </a:lnSpc>
              <a:spcBef>
                <a:spcPct val="0"/>
              </a:spcBef>
            </a:pPr>
            <a:r>
              <a:rPr lang="en-US" sz="2400" spc="95" dirty="0">
                <a:solidFill>
                  <a:srgbClr val="0018FF"/>
                </a:solidFill>
                <a:latin typeface="Verdana"/>
                <a:ea typeface="+mn-ea"/>
              </a:rPr>
              <a:t>email@domínio.com.br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45989AE-45D1-A6FC-842F-4B5CB769D0D5}"/>
              </a:ext>
            </a:extLst>
          </p:cNvPr>
          <p:cNvSpPr txBox="1"/>
          <p:nvPr/>
        </p:nvSpPr>
        <p:spPr>
          <a:xfrm>
            <a:off x="3505200" y="5272237"/>
            <a:ext cx="5362327" cy="54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8"/>
              </a:lnSpc>
              <a:spcBef>
                <a:spcPct val="0"/>
              </a:spcBef>
            </a:pPr>
            <a:r>
              <a:rPr lang="en-US" sz="2400" spc="95" dirty="0">
                <a:solidFill>
                  <a:srgbClr val="0018FF"/>
                </a:solidFill>
                <a:latin typeface="Verdana"/>
                <a:ea typeface="+mn-ea"/>
              </a:rPr>
              <a:t>SEU CARGO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5936E1C-E940-7281-2E1C-CA379A9AF579}"/>
              </a:ext>
            </a:extLst>
          </p:cNvPr>
          <p:cNvSpPr txBox="1"/>
          <p:nvPr/>
        </p:nvSpPr>
        <p:spPr>
          <a:xfrm>
            <a:off x="3505199" y="5805637"/>
            <a:ext cx="5362327" cy="54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8"/>
              </a:lnSpc>
              <a:spcBef>
                <a:spcPct val="0"/>
              </a:spcBef>
            </a:pPr>
            <a:r>
              <a:rPr lang="en-US" sz="2400" spc="95" dirty="0">
                <a:solidFill>
                  <a:srgbClr val="0018FF"/>
                </a:solidFill>
                <a:latin typeface="Verdana"/>
                <a:ea typeface="+mn-ea"/>
              </a:rPr>
              <a:t>(xx) </a:t>
            </a:r>
            <a:r>
              <a:rPr lang="en-US" sz="2400" spc="95" dirty="0" err="1">
                <a:solidFill>
                  <a:srgbClr val="0018FF"/>
                </a:solidFill>
                <a:latin typeface="Verdana"/>
                <a:ea typeface="+mn-ea"/>
              </a:rPr>
              <a:t>xxxx-xxxx</a:t>
            </a:r>
            <a:endParaRPr lang="en-US" sz="2400" spc="95" dirty="0">
              <a:solidFill>
                <a:srgbClr val="0018FF"/>
              </a:solidFill>
              <a:latin typeface="Verdana"/>
              <a:ea typeface="+mn-ea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29400FF3-E641-4B67-BC4F-D53209706B72}"/>
              </a:ext>
            </a:extLst>
          </p:cNvPr>
          <p:cNvSpPr/>
          <p:nvPr/>
        </p:nvSpPr>
        <p:spPr>
          <a:xfrm>
            <a:off x="1973344" y="6419652"/>
            <a:ext cx="9631680" cy="0"/>
          </a:xfrm>
          <a:custGeom>
            <a:avLst/>
            <a:gdLst/>
            <a:ahLst/>
            <a:cxnLst/>
            <a:rect l="l" t="t" r="r" b="b"/>
            <a:pathLst>
              <a:path w="9631680">
                <a:moveTo>
                  <a:pt x="0" y="0"/>
                </a:moveTo>
                <a:lnTo>
                  <a:pt x="963119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522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3044</TotalTime>
  <Words>96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Verdana</vt:lpstr>
      <vt:lpstr>Office Theme</vt:lpstr>
      <vt:lpstr>SEUNOME Mail Zimbra</vt:lpstr>
      <vt:lpstr>Apresentação do PowerPoint</vt:lpstr>
      <vt:lpstr>Apresentação do PowerPoint</vt:lpstr>
      <vt:lpstr>Planos SEUNOME Mail Zimbra</vt:lpstr>
      <vt:lpstr>Apresentação do PowerPoint</vt:lpstr>
      <vt:lpstr>Vantagens SEUNOME Mail Zimbra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Zimbra_Novo_e-mail.pptm</dc:title>
  <dc:creator>Igor Mazziero</dc:creator>
  <cp:lastModifiedBy>Igor</cp:lastModifiedBy>
  <cp:revision>7</cp:revision>
  <dcterms:created xsi:type="dcterms:W3CDTF">2024-06-18T16:33:04Z</dcterms:created>
  <dcterms:modified xsi:type="dcterms:W3CDTF">2024-06-24T17:53:07Z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